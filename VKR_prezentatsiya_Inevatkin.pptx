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8"/>
    <p:restoredTop sz="94714"/>
  </p:normalViewPr>
  <p:slideViewPr>
    <p:cSldViewPr snapToGrid="0">
      <p:cViewPr varScale="1">
        <p:scale>
          <a:sx n="115" d="100"/>
          <a:sy n="115" d="100"/>
        </p:scale>
        <p:origin x="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2CCA2B-3A23-F440-AFCF-B830F76FB9D0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084C88-ABCA-5E4F-A54F-3610CAC9FB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185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C408B0-545E-2043-C6A6-C42D1A8D1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43D126-1EDD-A694-BAE9-F4214939A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03B8B5-5E11-8BF2-41A6-1BECCFE87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8E913-D5F8-D143-ACDB-AE76B1EA128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E45807-BA5A-0138-18F0-40E22BECD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1BB9C2-1A44-ADBB-9AB5-353BB5AA9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B27A2-6808-5545-91D9-8D165B227A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6153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A95D47-8198-221D-CA7C-928D62407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B61B9C-0914-C2FD-C38C-635B7FCAD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0F6288-364C-1CF3-9755-C6BEB5A7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8E913-D5F8-D143-ACDB-AE76B1EA128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479BB3-4A28-40C6-B05D-EF7E0C38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1296EA-ACC1-9520-0677-2D260FB0F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B27A2-6808-5545-91D9-8D165B227A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652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489488-185A-84E8-CF79-DEDF95670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1007B2-4A9F-6635-CF09-9BCBE19AF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EA36ED-9170-ACC0-78AD-E4D2692A5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8E913-D5F8-D143-ACDB-AE76B1EA128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ED9295-9999-0036-8DE5-62E69C734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36E9D0-8420-349D-E882-9ACAD696C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B27A2-6808-5545-91D9-8D165B227A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872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A83E19-927A-F89B-33B3-45CDC7F3F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865B62-4E85-5701-F42A-CD9C9C080D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B91399-895F-71BB-B65D-665E1400B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D674D3-61CB-F537-3C0A-FAFB947C4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8E913-D5F8-D143-ACDB-AE76B1EA128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62073D0-0CD4-6EED-005B-13E350EE7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43FE92-233C-56CB-69D0-E2F91075D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B27A2-6808-5545-91D9-8D165B227A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2986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FBD3C8-2663-F0B3-148C-FDC6620A7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0AF472-6FDF-D607-9691-0F79B3C30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F678F24-2C6A-6F17-0014-DA1854854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C186E57-7D3A-287F-C1FE-45B69050F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5377DA4-1D2E-D75D-1E6B-8564329621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FEFFB3E-3704-3B52-D593-AFD56472E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8E913-D5F8-D143-ACDB-AE76B1EA128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143CA08-9149-F119-081E-0525B4504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25B6263-6F90-1DA3-1996-AE726E05F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B27A2-6808-5545-91D9-8D165B227A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5133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F164D4-9499-1B31-B48B-39A408984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9FFA179-0ACC-9ABF-6BE1-3039436F6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8E913-D5F8-D143-ACDB-AE76B1EA128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AB84DE-59A3-8870-8EF1-6021B2835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35D906-B650-70A2-45EF-086278C42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B27A2-6808-5545-91D9-8D165B227A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1027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E40002C-8A02-80BA-ECDB-80DA5B3A4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8E913-D5F8-D143-ACDB-AE76B1EA128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9A3B236-7549-2755-C45E-DF27F95BB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2670D3-9364-61D0-9FA1-EE8A0CCF8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B27A2-6808-5545-91D9-8D165B227A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084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430D6D-BEC5-16F7-C501-74CC58BFC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4D5840-70D3-E7D1-3225-3B00540A7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9575D7-961B-F230-E6E3-86B58453E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DF01EA-D583-EC8C-9DBF-3A467B68C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8E913-D5F8-D143-ACDB-AE76B1EA128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18D641-81FD-29E1-A66F-ED1C9118E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C89328-F79E-8F11-8E1D-1B5176E14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B27A2-6808-5545-91D9-8D165B227A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175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F994E8-F6CD-AB06-1352-41F4CF2CC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25E5AAF-F910-851C-7E60-4F285FD35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15A8E5-098C-1167-1CC4-FC51E0234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F252EE-9A35-8C25-A414-F1B8361B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8E913-D5F8-D143-ACDB-AE76B1EA128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51AD55E-B03D-D936-4D26-F9C9DB830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A60954-ADA6-389B-AC5E-C1F7CD306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B27A2-6808-5545-91D9-8D165B227A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640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334D57-6987-5E22-ED4B-099A90AF0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0641D87-0747-FE90-391E-A9942ED82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65DA55-D217-CEDF-4087-4DCD965DF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8E913-D5F8-D143-ACDB-AE76B1EA128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20F4FE-71A4-2C59-6932-6C2EF8F27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C0E4A1-2A4D-A471-CD88-BC58095D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B27A2-6808-5545-91D9-8D165B227A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1782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5101869-68B0-9AA9-966E-0878EA209E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27A8F73-1542-EC38-09B1-05A46F042E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896878-FDF5-52FB-D443-CDD52C2F6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8E913-D5F8-D143-ACDB-AE76B1EA128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5D3371-BDAB-8CB4-372A-EE9EFE0D0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EBE6E1-C981-54AA-3292-B1366795B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B27A2-6808-5545-91D9-8D165B227A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2040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4A6E4B-8582-73B8-C0F4-19C7FA66D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EFE572-16F6-05C1-D387-DEF89909B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B1C2FC-0E57-1629-60FB-5E770CBE1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88E913-D5F8-D143-ACDB-AE76B1EA128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483DD2-D023-ADC4-1C41-40941807CC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E29CB8-38E1-CCB6-B2CF-FE8D093011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CB27A2-6808-5545-91D9-8D165B227A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4041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обработки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статистического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моделирования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основе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символьной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регрессии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572194"/>
            <a:ext cx="9144000" cy="1655762"/>
          </a:xfrm>
        </p:spPr>
        <p:txBody>
          <a:bodyPr>
            <a:noAutofit/>
          </a:bodyPr>
          <a:lstStyle/>
          <a:p>
            <a:pPr algn="l">
              <a:defRPr sz="1800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Иневаткин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Ю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defRPr sz="1800"/>
            </a:pP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канд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наук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доц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Миков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defRPr sz="1800"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1800"/>
            </a:pP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Кубанский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государственный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университет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1800"/>
            </a:pP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компьютерных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прикладной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математики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Краснодар 2026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темы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чисел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нужна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компактная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аналитическая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  <a:defRPr sz="1800"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Классическая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регрессия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фиксированная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Символьная регрессия плюс генетическое программирование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автоматический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поиск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констант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  <a:defRPr sz="1800"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Ручной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перебор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.xlsx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плохо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воспроизводим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нужен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единый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конвейер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Потребность в автоматизации для повышения эффективности анализа данных.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600"/>
              </a:spcAft>
              <a:defRPr sz="1800"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ного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книг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.xlsx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символьной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регрессии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единым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отчётом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  <a:defRPr sz="18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 </a:t>
            </a:r>
          </a:p>
          <a:p>
            <a:pPr marL="342900" lvl="0" indent="-342900" algn="just">
              <a:lnSpc>
                <a:spcPct val="150000"/>
              </a:lnSpc>
              <a:buSzPts val="1400"/>
              <a:buFont typeface="Symbol" pitchFamily="2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изучить и проанализировать литературу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 тему работы символьной регрессии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 algn="just">
              <a:lnSpc>
                <a:spcPct val="150000"/>
              </a:lnSpc>
              <a:buSzPts val="1400"/>
              <a:buFont typeface="Symbol" pitchFamily="2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сформулировать требования к входным и выходным данным;</a:t>
            </a:r>
          </a:p>
          <a:p>
            <a:pPr marL="342900" lvl="0" indent="-342900" algn="just">
              <a:lnSpc>
                <a:spcPct val="150000"/>
              </a:lnSpc>
              <a:buSzPts val="1400"/>
              <a:buFont typeface="Symbol" pitchFamily="2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спроектировать решение с внешней настройкой эволюции и возможностью расширять набор «кирпичиков» в модели (базовые функции);</a:t>
            </a:r>
          </a:p>
          <a:p>
            <a:pPr marL="342900" lvl="0" indent="-342900" algn="just">
              <a:lnSpc>
                <a:spcPct val="150000"/>
              </a:lnSpc>
              <a:buSzPts val="1400"/>
              <a:buFont typeface="Symbol" pitchFamily="2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предложить методику вычислительного эксперимента и оценить работу комплекса на контрольных наборах.</a:t>
            </a:r>
          </a:p>
          <a:p>
            <a:pPr>
              <a:spcAft>
                <a:spcPts val="600"/>
              </a:spcAft>
              <a:defRPr sz="1800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Символьная регрессия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9298"/>
                <a:ext cx="10515600" cy="4827665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 algn="l">
                  <a:buNone/>
                </a:pPr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Чем отличается от «обычной» регрессии ?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Параметрическая регрессия: вид модели задан (например, </a:t>
                </a:r>
                <a:r>
                  <a:rPr lang="en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y=</a:t>
                </a:r>
                <a:r>
                  <a:rPr lang="el-GR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β0+β1</a:t>
                </a:r>
                <a:r>
                  <a:rPr lang="en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x1+…</a:t>
                </a:r>
                <a:r>
                  <a:rPr lang="en" i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l-GR" i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l-GR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0​+</a:t>
                </a:r>
                <a:r>
                  <a:rPr lang="el-GR" i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β</a:t>
                </a:r>
                <a:r>
                  <a:rPr lang="el-GR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1​</a:t>
                </a:r>
                <a:r>
                  <a:rPr lang="en" i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1​+…)</a:t>
                </a:r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остается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найти</a:t>
                </a:r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коэффициенты.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Символьная регрессия</a:t>
                </a:r>
                <a:r>
                  <a:rPr lang="en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 </a:t>
                </a:r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одновременно ищет форму </a:t>
                </a:r>
                <a:r>
                  <a:rPr lang="en" i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(</a:t>
                </a:r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какие операции, какая вложенность) и константы внутри неё без заданного вида модели. </a:t>
                </a:r>
              </a:p>
              <a:p>
                <a:pPr marL="0" indent="0" algn="l">
                  <a:buNone/>
                </a:pPr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Что именно оптимизируют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данных минимизируют ошибку предсказания (различие предсказанной</a:t>
                </a:r>
                <a:r>
                  <a:rPr lang="en-US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от значения истинной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Практически всегда добавляют ограничения: не всё выражение допустимо на всех строках (логарифм при </a:t>
                </a:r>
                <a:r>
                  <a:rPr lang="en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x≤0, </a:t>
                </a:r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деление на ноль и т.д.) → такие точки либо штрафуют, либо исключают из средней ошибки.</a:t>
                </a:r>
              </a:p>
              <a:p>
                <a:pPr marL="0" indent="0" algn="l">
                  <a:buNone/>
                </a:pPr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Пространство поиска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Модели = формулы из ограниченного языка: разрешённые операции, функции, иногда максимальная глубина дерева, запрет «опасных» веток.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Число структур комбинаторно огромно → нельзя перебрать все перебором.</a:t>
                </a:r>
              </a:p>
              <a:p>
                <a:pPr marL="0" indent="0" algn="l">
                  <a:buNone/>
                </a:pPr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Качество «не только по цифрам»</a:t>
                </a:r>
              </a:p>
              <a:p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Символьной регрессии</a:t>
                </a:r>
                <a:r>
                  <a:rPr lang="en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важны и простота (чтобы формула не была гигантской), и устойчивость (не только идеальный </a:t>
                </a:r>
                <a:r>
                  <a:rPr lang="ru-RU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фит</a:t>
                </a:r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обучении). Поэтому в критерии качества часто входят штраф за сложность и учёт </a:t>
                </a:r>
                <a:r>
                  <a:rPr lang="ru-RU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невалидных</a:t>
                </a:r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предсказаний(случай когда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не возможно сравнить 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например </a:t>
                </a:r>
                <a:r>
                  <a:rPr lang="en-US" i="0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NaN</a:t>
                </a:r>
                <a:r>
                  <a:rPr lang="ru-RU" i="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>
                  <a:spcAft>
                    <a:spcPts val="600"/>
                  </a:spcAft>
                  <a:defRPr sz="1800"/>
                </a:pPr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9298"/>
                <a:ext cx="10515600" cy="4827665"/>
              </a:xfrm>
              <a:blipFill>
                <a:blip r:embed="rId2"/>
                <a:stretch>
                  <a:fillRect l="-603" t="-2362" r="-121" b="-15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23" y="-75769"/>
            <a:ext cx="10559740" cy="934414"/>
          </a:xfrm>
        </p:spPr>
        <p:txBody>
          <a:bodyPr/>
          <a:lstStyle/>
          <a:p>
            <a:pPr>
              <a:defRPr sz="28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Генетическое программирование</a:t>
            </a:r>
            <a:endParaRPr lang="e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198" y="755386"/>
            <a:ext cx="6956502" cy="1118297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Что это в одном предложении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GP — 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эвристический поиск в пространстве программ / формул, представленных как деревья. Это не «единственный» метод 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SR, 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 классический и наглядный.</a:t>
            </a:r>
          </a:p>
          <a:p>
            <a:pPr marL="0" indent="0" algn="l">
              <a:buNone/>
            </a:pPr>
            <a:endParaRPr lang="ru-RU" sz="18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Цикл эволюции (логика по шагам)</a:t>
            </a:r>
          </a:p>
          <a:p>
            <a:pPr algn="l">
              <a:buFont typeface="+mj-lt"/>
              <a:buAutoNum type="arabicPeriod"/>
            </a:pP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Сформировать начальную популяцию случайных деревьев</a:t>
            </a:r>
          </a:p>
          <a:p>
            <a:pPr algn="l">
              <a:buFont typeface="+mj-lt"/>
              <a:buAutoNum type="arabicPeriod"/>
            </a:pP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Оценить каждое дерево (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fitness).</a:t>
            </a:r>
          </a:p>
          <a:p>
            <a:pPr algn="l">
              <a:buFont typeface="+mj-lt"/>
              <a:buAutoNum type="arabicPeriod"/>
            </a:pP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Отобрать родителей (часто турнир: из нескольких случайных особей выигрывает лучшая).</a:t>
            </a:r>
          </a:p>
          <a:p>
            <a:pPr algn="l">
              <a:buFont typeface="+mj-lt"/>
              <a:buAutoNum type="arabicPeriod"/>
            </a:pP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Скрестить двух родителей: выбрать узел в каждом дереве и поменять поддеревья.</a:t>
            </a:r>
          </a:p>
          <a:p>
            <a:pPr algn="l">
              <a:buFont typeface="+mj-lt"/>
              <a:buAutoNum type="arabicPeriod"/>
            </a:pP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Мутировать с вероятностью (подмена узла, поддерева, подстройка константы).</a:t>
            </a:r>
          </a:p>
          <a:p>
            <a:pPr algn="l">
              <a:buFont typeface="+mj-lt"/>
              <a:buAutoNum type="arabicPeriod"/>
            </a:pPr>
            <a:r>
              <a:rPr lang="ru-RU" sz="18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Элитизм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 несколько лучших копируют без изменений, чтобы не «сломать» удачное решение.</a:t>
            </a:r>
          </a:p>
          <a:p>
            <a:pPr algn="l">
              <a:buFont typeface="+mj-lt"/>
              <a:buAutoNum type="arabicPeriod"/>
            </a:pP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Повторять заданное число поколений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600"/>
              </a:spcAft>
              <a:defRPr sz="1800"/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Изображение выглядит как снимок экрана, круг, луна, ночь&#10;&#10;Автоматически созданное описание">
            <a:extLst>
              <a:ext uri="{FF2B5EF4-FFF2-40B4-BE49-F238E27FC236}">
                <a16:creationId xmlns:a16="http://schemas.microsoft.com/office/drawing/2014/main" id="{2B59F103-7714-A31B-5501-65C1B376C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618" y="0"/>
            <a:ext cx="3478252" cy="30476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4D1C42-D1E6-FC0B-9C05-C19C99C4C224}"/>
              </a:ext>
            </a:extLst>
          </p:cNvPr>
          <p:cNvSpPr txBox="1"/>
          <p:nvPr/>
        </p:nvSpPr>
        <p:spPr>
          <a:xfrm>
            <a:off x="7127489" y="3047611"/>
            <a:ext cx="50645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Представление решения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Особь = синтаксическое дерево: внутренние узлы — операции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листья — переменные 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 константы.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Такое </a:t>
            </a:r>
            <a:r>
              <a:rPr lang="ru-RU" sz="18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представение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удобно для локальных изменений (мутация поддерева) и комбинирования (кроссовер обменом кусками).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FA4C97-F9EA-19D7-8DC1-233AD7EF8D34}"/>
              </a:ext>
            </a:extLst>
          </p:cNvPr>
          <p:cNvSpPr txBox="1"/>
          <p:nvPr/>
        </p:nvSpPr>
        <p:spPr>
          <a:xfrm>
            <a:off x="7124700" y="5078936"/>
            <a:ext cx="50673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Целевая функция (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fitness)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Обычно чем меньше, тем </a:t>
            </a:r>
            <a:r>
              <a:rPr lang="ru-RU" sz="18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лучше.Типичный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состав: ошибка на данных (близко к 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MSE) + 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штраф за размер дерева + штраф за долю строк, где выражение 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невалидно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или вне области определения.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618"/>
            <a:ext cx="10515600" cy="1325563"/>
          </a:xfrm>
        </p:spPr>
        <p:txBody>
          <a:bodyPr/>
          <a:lstStyle/>
          <a:p>
            <a:pPr>
              <a:defRPr sz="2800"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вход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выход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3098"/>
            <a:ext cx="10515600" cy="4351338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Идея автоматизации — убрать рутину между состояниями «таблица готова» и «результат зафиксирован»: один и тот же сценарий для всех книг в папке, без ручного списка файлов и сведения метрик.</a:t>
            </a:r>
          </a:p>
          <a:p>
            <a:pPr marL="0" indent="0" algn="l">
              <a:buNone/>
            </a:pPr>
            <a:endParaRPr lang="ru-RU" sz="18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Вход (рабочий каталог):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файлы .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xlsx 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приводятся к единому формату обработки 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первый лист, столбцы слева — факторы, последний — значение функции. При ≥3 столбцов включается режим множественной регрессии в обратном случае используется режим с одной переменной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sz="18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gp_settings.json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профили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генетического программирования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заданными параметрами точности(максимальная глубина дерева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размер популяции особей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и.т.д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" sz="18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base_functions.txt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набор базовых выражений </a:t>
            </a:r>
            <a:r>
              <a:rPr lang="el-GR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φ 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сложного режима суперпозиции 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работают как конструктор для программы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l">
              <a:buNone/>
            </a:pP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Выход (протокол):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один текстовый </a:t>
            </a:r>
            <a:r>
              <a:rPr lang="en" sz="18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result.txt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том же каталоге (перезапись при новом прогоне): по каждой книге — модель, метрики, при 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режиме супер позиции добавляется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блок «Кандидаты»;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ru-RU" sz="18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Роль человека — подготовка смысла столбцов и формата таблицы; комплекс не заменяет постановку задачи, а стандартизирует обработку и отчёт.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комплекса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  <a:defRPr sz="18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Конвейер из четырех этапов в рамках одной сборки</a:t>
            </a:r>
          </a:p>
          <a:p>
            <a:pPr>
              <a:spcAft>
                <a:spcPts val="600"/>
              </a:spcAft>
              <a:defRPr sz="1800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Стек 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C#, .NET 8 — 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язык и </a:t>
            </a:r>
            <a:r>
              <a:rPr lang="ru-RU" sz="18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рантайм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sz="18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ClosedXML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чтение .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xlsx 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без установленного 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sz="18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Math.NET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sz="18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Numerics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устойчивые линейные модели для контроля и сравнения с результатом работы генетического программирования</a:t>
            </a: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JSON — </a:t>
            </a:r>
            <a:r>
              <a:rPr lang="ru-RU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внешняя настройка эволюции и контрольных порогов без </a:t>
            </a:r>
            <a:r>
              <a:rPr lang="ru-RU" sz="18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пересборки</a:t>
            </a:r>
            <a:endParaRPr lang="ru-RU" sz="18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defRPr sz="18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 descr="Изображение выглядит как текст, снимок экрана, Шрифт, визитная карточка&#10;&#10;Автоматически созданное описание">
            <a:extLst>
              <a:ext uri="{FF2B5EF4-FFF2-40B4-BE49-F238E27FC236}">
                <a16:creationId xmlns:a16="http://schemas.microsoft.com/office/drawing/2014/main" id="{A48559AA-637C-AACE-832F-5BFA0CF07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207" y="1551569"/>
            <a:ext cx="5832593" cy="3009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-393531"/>
            <a:ext cx="10515600" cy="1325563"/>
          </a:xfrm>
        </p:spPr>
        <p:txBody>
          <a:bodyPr/>
          <a:lstStyle/>
          <a:p>
            <a:pPr>
              <a:defRPr sz="2800"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Объект 3" descr="Изображение выглядит как текст, снимок экрана, Шрифт, визитная карточка&#10;&#10;Автоматически созданное описание">
            <a:extLst>
              <a:ext uri="{FF2B5EF4-FFF2-40B4-BE49-F238E27FC236}">
                <a16:creationId xmlns:a16="http://schemas.microsoft.com/office/drawing/2014/main" id="{E51F8568-B261-DB9E-84EC-E06C7E6D53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0090" y="1768130"/>
            <a:ext cx="4011820" cy="3321740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Шрифт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F457C12A-5A24-13A1-C417-675069018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64" y="4310329"/>
            <a:ext cx="3856826" cy="2222750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визитная карточк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4DD1EA42-3A9F-41D9-5B83-78321FED7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522" y="335165"/>
            <a:ext cx="3618908" cy="3897323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визитная карточк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63424D9E-1812-3F4F-A696-CD27D66F2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531" y="1874649"/>
            <a:ext cx="4090657" cy="23291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A21B06-AD09-A639-EBDD-5E19D189B453}"/>
              </a:ext>
            </a:extLst>
          </p:cNvPr>
          <p:cNvSpPr txBox="1"/>
          <p:nvPr/>
        </p:nvSpPr>
        <p:spPr>
          <a:xfrm>
            <a:off x="194531" y="493451"/>
            <a:ext cx="889645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после чтения .</a:t>
            </a:r>
            <a:r>
              <a:rPr lang="en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xlsx </a:t>
            </a:r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 не вызывает «одну функцию на всё», а ветвится: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дномерная регрессия, обычный запуск. Внутри вызывается </a:t>
            </a:r>
            <a:r>
              <a:rPr lang="en" sz="11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AnalyzeDataPattern</a:t>
            </a:r>
            <a:r>
              <a:rPr lang="en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 </a:t>
            </a:r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по его результату выбирается автоматический профиль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одномерная регрессия с эвристиками и </a:t>
            </a:r>
            <a:r>
              <a:rPr lang="en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log-fit</a:t>
            </a:r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(это ветка подбора модели не по исходному </a:t>
            </a:r>
            <a:r>
              <a:rPr lang="en" sz="11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 по логарифму отклика, с последующим возвратом к шкале </a:t>
            </a:r>
            <a:r>
              <a:rPr lang="en" sz="11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через экспоненту) подбирается по заданным профилям для каждого </a:t>
            </a:r>
            <a:r>
              <a:rPr lang="ru-RU" sz="11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патерна</a:t>
            </a:r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en-US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Json </a:t>
            </a:r>
            <a:r>
              <a:rPr lang="ru-RU" sz="11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фйле</a:t>
            </a:r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более подробного поиска формул</a:t>
            </a:r>
            <a:r>
              <a:rPr lang="en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ru-RU" sz="11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многомерная регрессия если </a:t>
            </a:r>
            <a:r>
              <a:rPr lang="ru-RU" sz="11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колличество</a:t>
            </a:r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переменных удовлетворяет запуску</a:t>
            </a:r>
            <a:r>
              <a:rPr lang="en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ru-RU" sz="11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 непустом </a:t>
            </a:r>
            <a:r>
              <a:rPr lang="en" sz="11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base_functions.txt</a:t>
            </a:r>
            <a:r>
              <a:rPr lang="en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включается ветка суперпозиции. </a:t>
            </a:r>
          </a:p>
          <a:p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Это и есть «реализация входа в вычислительное ядро».</a:t>
            </a:r>
            <a:endParaRPr 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F4BA29-4C06-C65F-3F2B-14CA497F073F}"/>
              </a:ext>
            </a:extLst>
          </p:cNvPr>
          <p:cNvSpPr txBox="1"/>
          <p:nvPr/>
        </p:nvSpPr>
        <p:spPr>
          <a:xfrm>
            <a:off x="4285188" y="5089870"/>
            <a:ext cx="42268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одно поколение — это «оживить» популяцию деревьев: посчитать </a:t>
            </a:r>
            <a:r>
              <a:rPr lang="en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fitness </a:t>
            </a:r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всех, отобрать родителей, кроссовер и мутация, собрать новое поколение, сохранить элиту. Это внутренняя машина, которая крутится много раз подряд внутри </a:t>
            </a:r>
            <a:r>
              <a:rPr lang="en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Evolve()</a:t>
            </a:r>
            <a:endParaRPr 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30D3FD-2881-C68A-DAB2-06F84CFF115C}"/>
              </a:ext>
            </a:extLst>
          </p:cNvPr>
          <p:cNvSpPr txBox="1"/>
          <p:nvPr/>
        </p:nvSpPr>
        <p:spPr>
          <a:xfrm>
            <a:off x="4285188" y="5967575"/>
            <a:ext cx="42268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отдельно выделен механизм отбора: из подмножества особей выбирается родитель с лучшим </a:t>
            </a:r>
            <a:r>
              <a:rPr lang="en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fitness — </a:t>
            </a:r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так в реализации поддерживается давление отбора и часть разнообразия популяции. Это объясняет, откуда берутся родители на схеме рис. 2</a:t>
            </a:r>
            <a:endParaRPr 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DCC7E4-BBD3-31A6-C55C-DE66A17629BD}"/>
              </a:ext>
            </a:extLst>
          </p:cNvPr>
          <p:cNvSpPr txBox="1"/>
          <p:nvPr/>
        </p:nvSpPr>
        <p:spPr>
          <a:xfrm>
            <a:off x="9090990" y="4351748"/>
            <a:ext cx="277644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показывает реализацию эволюции целиком: несколько рестартов, на каждом — разбиение </a:t>
            </a:r>
            <a:r>
              <a:rPr lang="en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train/validation, </a:t>
            </a:r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прогон эволюции по поколениям, </a:t>
            </a:r>
            <a:r>
              <a:rPr lang="ru-RU" sz="11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дожим</a:t>
            </a:r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констант в листьях, выбор дерева с лучшим </a:t>
            </a:r>
            <a:r>
              <a:rPr lang="ru-RU" sz="11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валидационным</a:t>
            </a:r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RMSE. </a:t>
            </a:r>
            <a:r>
              <a:rPr lang="ru-RU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Именно так в программе подбирается структура формулы перед тем, как она попадёт в </a:t>
            </a:r>
            <a:r>
              <a:rPr lang="en" sz="110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result.txt</a:t>
            </a:r>
            <a:r>
              <a:rPr lang="en" sz="11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44475"/>
            <a:ext cx="10515600" cy="1325563"/>
          </a:xfrm>
        </p:spPr>
        <p:txBody>
          <a:bodyPr/>
          <a:lstStyle/>
          <a:p>
            <a:pPr>
              <a:defRPr sz="2800"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10430"/>
            <a:ext cx="10515600" cy="4351338"/>
          </a:xfrm>
        </p:spPr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Было сформировано 11 контрольных файлов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xlsx </a:t>
            </a: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анализа работоспособности системы</a:t>
            </a:r>
          </a:p>
          <a:p>
            <a:pPr marL="0" indent="0">
              <a:spcAft>
                <a:spcPts val="600"/>
              </a:spcAft>
              <a:buNone/>
              <a:defRPr sz="1800"/>
            </a:pP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анализа результатов работы программы была составлена таблица в которой</a:t>
            </a:r>
            <a:r>
              <a:rPr lang="ru-RU" sz="1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основе предположений класса зависимости была задана допустимая ошибка для эталонного файла который можно считать успешно распознанным.</a:t>
            </a:r>
          </a:p>
          <a:p>
            <a:pPr marL="0" indent="0">
              <a:spcAft>
                <a:spcPts val="600"/>
              </a:spcAft>
              <a:buNone/>
              <a:defRPr sz="18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5AFE8EA-8882-8D9F-5F93-CD8B90D86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478477"/>
              </p:ext>
            </p:extLst>
          </p:nvPr>
        </p:nvGraphicFramePr>
        <p:xfrm>
          <a:off x="6507480" y="1661101"/>
          <a:ext cx="4846320" cy="47560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0167">
                  <a:extLst>
                    <a:ext uri="{9D8B030D-6E8A-4147-A177-3AD203B41FA5}">
                      <a16:colId xmlns:a16="http://schemas.microsoft.com/office/drawing/2014/main" val="2165129236"/>
                    </a:ext>
                  </a:extLst>
                </a:gridCol>
                <a:gridCol w="1301081">
                  <a:extLst>
                    <a:ext uri="{9D8B030D-6E8A-4147-A177-3AD203B41FA5}">
                      <a16:colId xmlns:a16="http://schemas.microsoft.com/office/drawing/2014/main" val="3118886160"/>
                    </a:ext>
                  </a:extLst>
                </a:gridCol>
                <a:gridCol w="700084">
                  <a:extLst>
                    <a:ext uri="{9D8B030D-6E8A-4147-A177-3AD203B41FA5}">
                      <a16:colId xmlns:a16="http://schemas.microsoft.com/office/drawing/2014/main" val="1185708656"/>
                    </a:ext>
                  </a:extLst>
                </a:gridCol>
                <a:gridCol w="1126310">
                  <a:extLst>
                    <a:ext uri="{9D8B030D-6E8A-4147-A177-3AD203B41FA5}">
                      <a16:colId xmlns:a16="http://schemas.microsoft.com/office/drawing/2014/main" val="2752294300"/>
                    </a:ext>
                  </a:extLst>
                </a:gridCol>
                <a:gridCol w="487472">
                  <a:extLst>
                    <a:ext uri="{9D8B030D-6E8A-4147-A177-3AD203B41FA5}">
                      <a16:colId xmlns:a16="http://schemas.microsoft.com/office/drawing/2014/main" val="1316690669"/>
                    </a:ext>
                  </a:extLst>
                </a:gridCol>
                <a:gridCol w="911206">
                  <a:extLst>
                    <a:ext uri="{9D8B030D-6E8A-4147-A177-3AD203B41FA5}">
                      <a16:colId xmlns:a16="http://schemas.microsoft.com/office/drawing/2014/main" val="4058189947"/>
                    </a:ext>
                  </a:extLst>
                </a:gridCol>
              </a:tblGrid>
              <a:tr h="62598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№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700" dirty="0" err="1">
                          <a:effectLst/>
                        </a:rPr>
                        <a:t>Файл</a:t>
                      </a:r>
                      <a:r>
                        <a:rPr lang="en-US" sz="700" dirty="0">
                          <a:effectLst/>
                        </a:rPr>
                        <a:t> .xlsx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Режим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Ожидаемая истина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Порог RMSE в JSON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Фиксация в протоколе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 anchor="ctr"/>
                </a:tc>
                <a:extLst>
                  <a:ext uri="{0D108BD9-81ED-4DB2-BD59-A6C34878D82A}">
                    <a16:rowId xmlns:a16="http://schemas.microsoft.com/office/drawing/2014/main" val="4266217857"/>
                  </a:ext>
                </a:extLst>
              </a:tr>
              <a:tr h="28071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1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linear.xlsx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1D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линейная зависимость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0,2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RMSE, rel, benchmark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extLst>
                  <a:ext uri="{0D108BD9-81ED-4DB2-BD59-A6C34878D82A}">
                    <a16:rowId xmlns:a16="http://schemas.microsoft.com/office/drawing/2014/main" val="470494423"/>
                  </a:ext>
                </a:extLst>
              </a:tr>
              <a:tr h="28071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2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polynomial.xlsx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1D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полином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1,5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RMSE, rel, benchmark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extLst>
                  <a:ext uri="{0D108BD9-81ED-4DB2-BD59-A6C34878D82A}">
                    <a16:rowId xmlns:a16="http://schemas.microsoft.com/office/drawing/2014/main" val="3043888826"/>
                  </a:ext>
                </a:extLst>
              </a:tr>
              <a:tr h="37039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3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exponential.xlsx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1D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экспонента (y &gt; 0)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6,0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RMSE, rel, log-fit?, benchmark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extLst>
                  <a:ext uri="{0D108BD9-81ED-4DB2-BD59-A6C34878D82A}">
                    <a16:rowId xmlns:a16="http://schemas.microsoft.com/office/drawing/2014/main" val="3762588295"/>
                  </a:ext>
                </a:extLst>
              </a:tr>
              <a:tr h="28071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4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trigonometric.xlsx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 dirty="0">
                          <a:effectLst/>
                        </a:rPr>
                        <a:t>1D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sin/cos-подобная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0,05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RMSE, rel, benchmark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extLst>
                  <a:ext uri="{0D108BD9-81ED-4DB2-BD59-A6C34878D82A}">
                    <a16:rowId xmlns:a16="http://schemas.microsoft.com/office/drawing/2014/main" val="645949084"/>
                  </a:ext>
                </a:extLst>
              </a:tr>
              <a:tr h="37039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5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noisy_data.xlsx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1D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линейная + шум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1,0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RMSE, rel, устойчивость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extLst>
                  <a:ext uri="{0D108BD9-81ED-4DB2-BD59-A6C34878D82A}">
                    <a16:rowId xmlns:a16="http://schemas.microsoft.com/office/drawing/2014/main" val="172780630"/>
                  </a:ext>
                </a:extLst>
              </a:tr>
              <a:tr h="24260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6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noisy_trig.xlsx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1D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тригонометрия + шум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0,15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RMSE, rel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extLst>
                  <a:ext uri="{0D108BD9-81ED-4DB2-BD59-A6C34878D82A}">
                    <a16:rowId xmlns:a16="http://schemas.microsoft.com/office/drawing/2014/main" val="167182183"/>
                  </a:ext>
                </a:extLst>
              </a:tr>
              <a:tr h="49818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7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multi_linear.xlsx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MD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линейная по x₁, x₂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5,0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RMSE train/test, R², кандидаты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extLst>
                  <a:ext uri="{0D108BD9-81ED-4DB2-BD59-A6C34878D82A}">
                    <a16:rowId xmlns:a16="http://schemas.microsoft.com/office/drawing/2014/main" val="1195948090"/>
                  </a:ext>
                </a:extLst>
              </a:tr>
              <a:tr h="49818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8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combined.xlsx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MD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нелинейная комбинация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1,5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кто выиграл: GP / baseline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extLst>
                  <a:ext uri="{0D108BD9-81ED-4DB2-BD59-A6C34878D82A}">
                    <a16:rowId xmlns:a16="http://schemas.microsoft.com/office/drawing/2014/main" val="1655600405"/>
                  </a:ext>
                </a:extLst>
              </a:tr>
              <a:tr h="49818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9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superposition_test.xlsx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MD + φ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700">
                          <a:effectLst/>
                        </a:rPr>
                        <a:t>суперпозиция при непустом </a:t>
                      </a:r>
                      <a:r>
                        <a:rPr lang="en-US" sz="700">
                          <a:effectLst/>
                        </a:rPr>
                        <a:t>base</a:t>
                      </a:r>
                      <a:r>
                        <a:rPr lang="ru-RU" sz="700">
                          <a:effectLst/>
                        </a:rPr>
                        <a:t>_</a:t>
                      </a:r>
                      <a:r>
                        <a:rPr lang="en-US" sz="700">
                          <a:effectLst/>
                        </a:rPr>
                        <a:t>functions</a:t>
                      </a:r>
                      <a:r>
                        <a:rPr lang="ru-RU" sz="700">
                          <a:effectLst/>
                        </a:rPr>
                        <a:t>.</a:t>
                      </a:r>
                      <a:r>
                        <a:rPr lang="en-US" sz="700">
                          <a:effectLst/>
                        </a:rPr>
                        <a:t>txt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0,1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RMSE, режим φ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extLst>
                  <a:ext uri="{0D108BD9-81ED-4DB2-BD59-A6C34878D82A}">
                    <a16:rowId xmlns:a16="http://schemas.microsoft.com/office/drawing/2014/main" val="1389352090"/>
                  </a:ext>
                </a:extLst>
              </a:tr>
              <a:tr h="37039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10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Иневаткин_Tests.xlsx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по структуре файла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авторский контрольный набор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0,2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по протоколу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extLst>
                  <a:ext uri="{0D108BD9-81ED-4DB2-BD59-A6C34878D82A}">
                    <a16:rowId xmlns:a16="http://schemas.microsoft.com/office/drawing/2014/main" val="1413210350"/>
                  </a:ext>
                </a:extLst>
              </a:tr>
              <a:tr h="37039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11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Иневаткин_Tests2.xlsx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по структуре файла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авторский контрольный набор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>
                          <a:effectLst/>
                        </a:rPr>
                        <a:t>0,3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700" dirty="0" err="1">
                          <a:effectLst/>
                        </a:rPr>
                        <a:t>по</a:t>
                      </a:r>
                      <a:r>
                        <a:rPr lang="en-US" sz="700" dirty="0">
                          <a:effectLst/>
                        </a:rPr>
                        <a:t> </a:t>
                      </a:r>
                      <a:r>
                        <a:rPr lang="en-US" sz="700" dirty="0" err="1">
                          <a:effectLst/>
                        </a:rPr>
                        <a:t>протоколу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466" marR="39466" marT="0" marB="0"/>
                </a:tc>
                <a:extLst>
                  <a:ext uri="{0D108BD9-81ED-4DB2-BD59-A6C34878D82A}">
                    <a16:rowId xmlns:a16="http://schemas.microsoft.com/office/drawing/2014/main" val="3353001338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4A6C9809-B96E-4A77-D413-FF1D766E8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5740" y="1015575"/>
            <a:ext cx="16609351" cy="20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580D90-703F-DDC0-59A8-C88C72F724D6}"/>
              </a:ext>
            </a:extLst>
          </p:cNvPr>
          <p:cNvSpPr txBox="1"/>
          <p:nvPr/>
        </p:nvSpPr>
        <p:spPr>
          <a:xfrm>
            <a:off x="838200" y="1375151"/>
            <a:ext cx="54711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проведения экспериментов была создана вторая таблица в которой были структурированы полученные результаты для анализа 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46898648-88AB-B6D8-59B0-94DCD066D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558371"/>
              </p:ext>
            </p:extLst>
          </p:nvPr>
        </p:nvGraphicFramePr>
        <p:xfrm>
          <a:off x="411480" y="1816082"/>
          <a:ext cx="5684520" cy="50240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36904">
                  <a:extLst>
                    <a:ext uri="{9D8B030D-6E8A-4147-A177-3AD203B41FA5}">
                      <a16:colId xmlns:a16="http://schemas.microsoft.com/office/drawing/2014/main" val="2004081725"/>
                    </a:ext>
                  </a:extLst>
                </a:gridCol>
                <a:gridCol w="1136904">
                  <a:extLst>
                    <a:ext uri="{9D8B030D-6E8A-4147-A177-3AD203B41FA5}">
                      <a16:colId xmlns:a16="http://schemas.microsoft.com/office/drawing/2014/main" val="3318621364"/>
                    </a:ext>
                  </a:extLst>
                </a:gridCol>
                <a:gridCol w="1136904">
                  <a:extLst>
                    <a:ext uri="{9D8B030D-6E8A-4147-A177-3AD203B41FA5}">
                      <a16:colId xmlns:a16="http://schemas.microsoft.com/office/drawing/2014/main" val="3670475714"/>
                    </a:ext>
                  </a:extLst>
                </a:gridCol>
                <a:gridCol w="1136904">
                  <a:extLst>
                    <a:ext uri="{9D8B030D-6E8A-4147-A177-3AD203B41FA5}">
                      <a16:colId xmlns:a16="http://schemas.microsoft.com/office/drawing/2014/main" val="3931967626"/>
                    </a:ext>
                  </a:extLst>
                </a:gridCol>
                <a:gridCol w="1136904">
                  <a:extLst>
                    <a:ext uri="{9D8B030D-6E8A-4147-A177-3AD203B41FA5}">
                      <a16:colId xmlns:a16="http://schemas.microsoft.com/office/drawing/2014/main" val="2986903779"/>
                    </a:ext>
                  </a:extLst>
                </a:gridCol>
              </a:tblGrid>
              <a:tr h="2065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Файл .xlsx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RMSE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Отн. ошибка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Порог RMSE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Статус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 anchor="ctr"/>
                </a:tc>
                <a:extLst>
                  <a:ext uri="{0D108BD9-81ED-4DB2-BD59-A6C34878D82A}">
                    <a16:rowId xmlns:a16="http://schemas.microsoft.com/office/drawing/2014/main" val="3620360534"/>
                  </a:ext>
                </a:extLst>
              </a:tr>
              <a:tr h="3777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linear.xlsx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7,587E-005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3,832E-007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0,200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PASS (abs+rel)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extLst>
                  <a:ext uri="{0D108BD9-81ED-4DB2-BD59-A6C34878D82A}">
                    <a16:rowId xmlns:a16="http://schemas.microsoft.com/office/drawing/2014/main" val="2467766264"/>
                  </a:ext>
                </a:extLst>
              </a:tr>
              <a:tr h="40021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polynomial.xlsx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 dirty="0">
                          <a:effectLst/>
                        </a:rPr>
                        <a:t>0,027892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2,904E-006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1,500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PASS (abs+rel)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extLst>
                  <a:ext uri="{0D108BD9-81ED-4DB2-BD59-A6C34878D82A}">
                    <a16:rowId xmlns:a16="http://schemas.microsoft.com/office/drawing/2014/main" val="1689747564"/>
                  </a:ext>
                </a:extLst>
              </a:tr>
              <a:tr h="40021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exponential.xlsx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3,501E+012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6,512E-032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6,000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PASS (rel)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extLst>
                  <a:ext uri="{0D108BD9-81ED-4DB2-BD59-A6C34878D82A}">
                    <a16:rowId xmlns:a16="http://schemas.microsoft.com/office/drawing/2014/main" val="2397182981"/>
                  </a:ext>
                </a:extLst>
              </a:tr>
              <a:tr h="4365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trigonometric.xlsx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0,002385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1,192E-003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0,050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PASS (abs+rel)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extLst>
                  <a:ext uri="{0D108BD9-81ED-4DB2-BD59-A6C34878D82A}">
                    <a16:rowId xmlns:a16="http://schemas.microsoft.com/office/drawing/2014/main" val="2149426201"/>
                  </a:ext>
                </a:extLst>
              </a:tr>
              <a:tr h="3777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noisy_trig.xlsx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0,094687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2,353E-002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0,150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PASS (abs)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extLst>
                  <a:ext uri="{0D108BD9-81ED-4DB2-BD59-A6C34878D82A}">
                    <a16:rowId xmlns:a16="http://schemas.microsoft.com/office/drawing/2014/main" val="1775866064"/>
                  </a:ext>
                </a:extLst>
              </a:tr>
              <a:tr h="40021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noisy_data.xlsx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0,115047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5,801E-004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1,000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PASS (abs+rel)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extLst>
                  <a:ext uri="{0D108BD9-81ED-4DB2-BD59-A6C34878D82A}">
                    <a16:rowId xmlns:a16="http://schemas.microsoft.com/office/drawing/2014/main" val="4041062667"/>
                  </a:ext>
                </a:extLst>
              </a:tr>
              <a:tr h="40021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multi_linear.xlsx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0,000000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0,000E+000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5,000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PASS (abs+rel)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extLst>
                  <a:ext uri="{0D108BD9-81ED-4DB2-BD59-A6C34878D82A}">
                    <a16:rowId xmlns:a16="http://schemas.microsoft.com/office/drawing/2014/main" val="2642980020"/>
                  </a:ext>
                </a:extLst>
              </a:tr>
              <a:tr h="3777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combined.xlsx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1,641E-014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5,698E-017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1,500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PASS (abs+rel)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extLst>
                  <a:ext uri="{0D108BD9-81ED-4DB2-BD59-A6C34878D82A}">
                    <a16:rowId xmlns:a16="http://schemas.microsoft.com/office/drawing/2014/main" val="1836822346"/>
                  </a:ext>
                </a:extLst>
              </a:tr>
              <a:tr h="4365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superposition_test.xlsx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0,026284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3,462E-003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0,100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PASS (abs+rel)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extLst>
                  <a:ext uri="{0D108BD9-81ED-4DB2-BD59-A6C34878D82A}">
                    <a16:rowId xmlns:a16="http://schemas.microsoft.com/office/drawing/2014/main" val="2137069008"/>
                  </a:ext>
                </a:extLst>
              </a:tr>
              <a:tr h="4365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Иневаткин_Tests.xlsx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1,047E-016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2,982E-016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0,200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PASS (abs+rel)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extLst>
                  <a:ext uri="{0D108BD9-81ED-4DB2-BD59-A6C34878D82A}">
                    <a16:rowId xmlns:a16="http://schemas.microsoft.com/office/drawing/2014/main" val="4008566096"/>
                  </a:ext>
                </a:extLst>
              </a:tr>
              <a:tr h="4365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Иневаткин_Tests2.xlsx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9,846E-005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1,030E-004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>
                          <a:effectLst/>
                        </a:rPr>
                        <a:t>0,300</a:t>
                      </a:r>
                      <a:endParaRPr lang="ru-RU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100" dirty="0">
                          <a:effectLst/>
                        </a:rPr>
                        <a:t>PASS (</a:t>
                      </a:r>
                      <a:r>
                        <a:rPr lang="en-US" sz="1100" dirty="0" err="1">
                          <a:effectLst/>
                        </a:rPr>
                        <a:t>abs+rel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36" marR="61936" marT="0" marB="0"/>
                </a:tc>
                <a:extLst>
                  <a:ext uri="{0D108BD9-81ED-4DB2-BD59-A6C34878D82A}">
                    <a16:rowId xmlns:a16="http://schemas.microsoft.com/office/drawing/2014/main" val="6812306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5776" y="-449214"/>
            <a:ext cx="10515600" cy="1325563"/>
          </a:xfrm>
        </p:spPr>
        <p:txBody>
          <a:bodyPr/>
          <a:lstStyle/>
          <a:p>
            <a:pPr>
              <a:defRPr sz="28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889" y="375095"/>
            <a:ext cx="10515600" cy="43513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 sz="1800"/>
            </a:pPr>
            <a:r>
              <a:rPr lang="ru-RU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сопоставлении полученных данных с предполагаемыми была составлена диаграмма  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6DC1A5-47F9-715E-F2FF-77CB996A90D8}"/>
              </a:ext>
            </a:extLst>
          </p:cNvPr>
          <p:cNvSpPr txBox="1"/>
          <p:nvPr/>
        </p:nvSpPr>
        <p:spPr>
          <a:xfrm>
            <a:off x="242889" y="795118"/>
            <a:ext cx="516853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/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 графике выделяются три файла </a:t>
            </a:r>
            <a:r>
              <a:rPr lang="en-US" sz="1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</a:t>
            </a:r>
            <a:r>
              <a:rPr lang="ru-RU" sz="1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1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ru-RU" sz="1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xlsx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В сводке RMSE = 0 (и </a:t>
            </a:r>
            <a:r>
              <a:rPr lang="ru-RU" sz="1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0): модель на данных совпадает с истиной с точностью до представления чисел. На графике ноль нельзя нарисовать в </a:t>
            </a:r>
            <a:r>
              <a:rPr lang="ru-RU" sz="1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поэтому подставляется очень малое число (нижняя граница). В результате столбец прижат к низу шкалы и может казаться «пустым» или «сломанным». Красный отрезок порога при этом на другом уровне – так и должно быть: RMSE </a:t>
            </a:r>
            <a:r>
              <a:rPr lang="ru-RU" sz="11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≪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порог.</a:t>
            </a:r>
          </a:p>
          <a:p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еще два особых случая отражают именно разработанную схему допусков, а не «ошибку таблицы». </a:t>
            </a:r>
            <a:r>
              <a:rPr lang="en-US" sz="1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exponential</a:t>
            </a:r>
            <a:r>
              <a:rPr lang="ru-RU" sz="1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1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xlsx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RMSE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порядка 10¹² существенно выше порога 6,0, зато </a:t>
            </a:r>
            <a:r>
              <a:rPr lang="en-US" sz="1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≈ 6,5·10⁻³² – ошибка ничтожна по отношению к размаху 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статус 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PASS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корректно интерпретируется как успех по относительному критерию при «взрывном» масштабе отклика. </a:t>
            </a:r>
            <a:r>
              <a:rPr lang="en-US" sz="1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noisy</a:t>
            </a:r>
            <a:r>
              <a:rPr lang="ru-RU" sz="1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_</a:t>
            </a:r>
            <a:r>
              <a:rPr lang="en-US" sz="1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trig</a:t>
            </a:r>
            <a:r>
              <a:rPr lang="ru-RU" sz="1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1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xlsx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наоборот, 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RMSE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0,095 &lt; 0,15 (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abs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выполняется), а </a:t>
            </a:r>
            <a:r>
              <a:rPr lang="en-US" sz="1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≈ 0,024 выше порога 0,005 – шум и форма сигнала дают большую долю ошибки в размахе 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тем не менее запись 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PASS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abs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фиксирует прохождение по абсолютному допуску.</a:t>
            </a:r>
            <a:r>
              <a:rPr lang="ru-RU" sz="1100" dirty="0">
                <a:effectLst/>
              </a:rPr>
              <a:t> </a:t>
            </a:r>
            <a:endParaRPr lang="ru-RU" sz="1100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129D0943-27E2-3C0E-6BE8-9D970CEF18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013474"/>
              </p:ext>
            </p:extLst>
          </p:nvPr>
        </p:nvGraphicFramePr>
        <p:xfrm>
          <a:off x="247238" y="3316306"/>
          <a:ext cx="8116300" cy="33452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39445">
                  <a:extLst>
                    <a:ext uri="{9D8B030D-6E8A-4147-A177-3AD203B41FA5}">
                      <a16:colId xmlns:a16="http://schemas.microsoft.com/office/drawing/2014/main" val="172291722"/>
                    </a:ext>
                  </a:extLst>
                </a:gridCol>
                <a:gridCol w="4476855">
                  <a:extLst>
                    <a:ext uri="{9D8B030D-6E8A-4147-A177-3AD203B41FA5}">
                      <a16:colId xmlns:a16="http://schemas.microsoft.com/office/drawing/2014/main" val="1603310022"/>
                    </a:ext>
                  </a:extLst>
                </a:gridCol>
              </a:tblGrid>
              <a:tr h="2014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Файл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Найденная формула (фрагмент протокола)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425528"/>
                  </a:ext>
                </a:extLst>
              </a:tr>
              <a:tr h="2015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combined.xlsx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: (sin(x1) + (x2)^2,0000)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7862203"/>
                  </a:ext>
                </a:extLst>
              </a:tr>
              <a:tr h="2015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 err="1">
                          <a:effectLst/>
                        </a:rPr>
                        <a:t>custom_function.xlsx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>
                          <a:effectLst/>
                        </a:rPr>
                        <a:t>: ((x1)^3,0000 + 1,0000)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5638035"/>
                  </a:ext>
                </a:extLst>
              </a:tr>
              <a:tr h="2015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exponential.xlsx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: (exp(x1) * 2,0000)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1312679"/>
                  </a:ext>
                </a:extLst>
              </a:tr>
              <a:tr h="2015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linear.xlsx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: (x1 + (x1 + 0,9999))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9321817"/>
                  </a:ext>
                </a:extLst>
              </a:tr>
              <a:tr h="2015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multi_linear.xlsx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: ((-5,0000 + (3,0000 * x1)) + (2,0000 * x2))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1228366"/>
                  </a:ext>
                </a:extLst>
              </a:tr>
              <a:tr h="2015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noisy_data.xlsx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: ((x1 + x1) - -0,9971)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5573131"/>
                  </a:ext>
                </a:extLst>
              </a:tr>
              <a:tr h="2015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noisy_trig.xlsx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>
                          <a:effectLst/>
                        </a:rPr>
                        <a:t>: (1,8633 * sin(((2,9906 * x1) + 0,6000)))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5195591"/>
                  </a:ext>
                </a:extLst>
              </a:tr>
              <a:tr h="2015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polynomial.xlsx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: (3,0493 + (x1 * (-4,0010 + x1)))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8225107"/>
                  </a:ext>
                </a:extLst>
              </a:tr>
              <a:tr h="2015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superposition_test.xlsx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: exp((2,0917 * cos((0,2273 + (x1 * x1)))))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9397683"/>
                  </a:ext>
                </a:extLst>
              </a:tr>
              <a:tr h="2015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trigonometric.xlsx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: sin(x1)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2454636"/>
                  </a:ext>
                </a:extLst>
              </a:tr>
              <a:tr h="20154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Иневаткин_Tests.xlsx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: ((0,1230 * x1) + (0,4560 * x2))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5978178"/>
                  </a:ext>
                </a:extLst>
              </a:tr>
              <a:tr h="38727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>
                          <a:effectLst/>
                        </a:rPr>
                        <a:t>Иневаткин_Tests2.xlsx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200" dirty="0">
                          <a:effectLst/>
                        </a:rPr>
                        <a:t>: (sin(((0,9985 * (x2 * exp((1,0010 * x1)))) + 0,0006)))^2,0000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7187131"/>
                  </a:ext>
                </a:extLst>
              </a:tr>
            </a:tbl>
          </a:graphicData>
        </a:graphic>
      </p:graphicFrame>
      <p:pic>
        <p:nvPicPr>
          <p:cNvPr id="4" name="Picture 1" descr="Изображение выглядит как текст, снимок экрана, График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999A8232-655C-8418-D3C0-ACAAEF46D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865" y="213567"/>
            <a:ext cx="6308135" cy="31027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CAE302-8D08-B440-63C9-06442A4BE31A}"/>
              </a:ext>
            </a:extLst>
          </p:cNvPr>
          <p:cNvSpPr txBox="1"/>
          <p:nvPr/>
        </p:nvSpPr>
        <p:spPr>
          <a:xfrm>
            <a:off x="8797358" y="4140615"/>
            <a:ext cx="2977587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 результатам рассмотренного прогона комплекс на полном контрольном наборе даёт приемлемые 100 % 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при осмысленном различии критериев (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и (</a:t>
            </a:r>
            <a:r>
              <a:rPr lang="en-US" sz="1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А текст 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txt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показывает согласование структуры формул с типом данных (включая случаи, когда оптимален 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а не 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GP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Это демонстрирует воспроизводимый цикл «пакет .</a:t>
            </a: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xlsx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единый протокол → количественная и качественная оценка».</a:t>
            </a:r>
          </a:p>
          <a:p>
            <a:endParaRPr lang="ru-RU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688931"/>
            <a:ext cx="10515600" cy="1325563"/>
          </a:xfrm>
        </p:spPr>
        <p:txBody>
          <a:bodyPr/>
          <a:lstStyle/>
          <a:p>
            <a:pPr>
              <a:defRPr sz="2800"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внимание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была достигнута</a:t>
            </a:r>
          </a:p>
          <a:p>
            <a:pPr marL="0" indent="0">
              <a:spcAft>
                <a:spcPts val="600"/>
              </a:spcAft>
              <a:buNone/>
              <a:defRPr sz="18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 программный комплекс для обработки книг .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xlsx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основе символьной регрессии с единым отчётом. </a:t>
            </a:r>
          </a:p>
          <a:p>
            <a:pPr>
              <a:spcAft>
                <a:spcPts val="600"/>
              </a:spcAft>
              <a:defRPr sz="18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решены</a:t>
            </a:r>
          </a:p>
          <a:p>
            <a:pPr marL="0" indent="0">
              <a:spcAft>
                <a:spcPts val="600"/>
              </a:spcAft>
              <a:buNone/>
              <a:defRPr sz="18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поставленные задачи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теоретической части темы символьной регрессии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сформулированы требования к входным и выходным данным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 решение и оценена работа комплекса на контрольных наборах</a:t>
            </a:r>
          </a:p>
          <a:p>
            <a:pPr marL="0" indent="0">
              <a:spcAft>
                <a:spcPts val="600"/>
              </a:spcAft>
              <a:buNone/>
              <a:defRPr sz="18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2012</Words>
  <Application>Microsoft Macintosh PowerPoint</Application>
  <PresentationFormat>Широкоэкранный</PresentationFormat>
  <Paragraphs>254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Symbol</vt:lpstr>
      <vt:lpstr>Times New Roman</vt:lpstr>
      <vt:lpstr>Тема Office</vt:lpstr>
      <vt:lpstr>ВЫПУСКНАЯ КВАЛИФИКАЦИОННАЯ РАБОТА    Автоматизация обработки данных статистического моделирования на основе символьной регрессии</vt:lpstr>
      <vt:lpstr>Актуальность темы</vt:lpstr>
      <vt:lpstr>Цель и задачи</vt:lpstr>
      <vt:lpstr>Символьная регрессия</vt:lpstr>
      <vt:lpstr>Генетическое программирование</vt:lpstr>
      <vt:lpstr>Автоматизация: вход и выход</vt:lpstr>
      <vt:lpstr>Архитектура комплекса</vt:lpstr>
      <vt:lpstr>Реализация (ключевое)</vt:lpstr>
      <vt:lpstr>Эксперимент</vt:lpstr>
      <vt:lpstr>Результаты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Юрий Иневаткин</dc:creator>
  <cp:lastModifiedBy>Юрий Иневаткин</cp:lastModifiedBy>
  <cp:revision>3</cp:revision>
  <dcterms:created xsi:type="dcterms:W3CDTF">2025-08-26T00:56:20Z</dcterms:created>
  <dcterms:modified xsi:type="dcterms:W3CDTF">2026-05-07T10:21:07Z</dcterms:modified>
</cp:coreProperties>
</file>